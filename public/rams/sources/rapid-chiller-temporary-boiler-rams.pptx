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30910"/>
            <a:ext cx="10096500" cy="600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45965"/>
            <a:ext cx="8251031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0F172A"/>
                </a:solidFill>
                <a:latin typeface="Space Grotesk"/>
              </a:rPr>
              <a:t>Temporary Boiler Hire 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06935"/>
            <a:ext cx="8096250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475569"/>
                </a:solidFill>
                <a:latin typeface="Plus Jakarta Sans"/>
              </a:rPr>
              <a:t>Risk Assessment &amp; Method Statement for safe delivery, installation, gas/electrical hook-up, commissioning, and continuous operation of temporary heating plant.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78560"/>
            <a:ext cx="241935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 SemiBold"/>
              </a:rPr>
              <a:t>Project Scope</a:t>
            </a:r>
            <a:r>
              <a:rPr sz="1200" b="0" i="0" u="none">
                <a:solidFill>
                  <a:srgbClr val="000000"/>
                </a:solidFill>
                <a:latin typeface="Plus Jakarta Sans"/>
              </a:rPr>
              <a:t> </a:t>
            </a:r>
            <a:r>
              <a:rPr sz="1200" b="1" i="0" u="none">
                <a:solidFill>
                  <a:srgbClr val="0F172A"/>
                </a:solidFill>
                <a:latin typeface="Plus Jakarta Sans"/>
              </a:rPr>
              <a:t>Temporary Boiler Hire Installation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1850" y="4678560"/>
            <a:ext cx="208597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 SemiBold"/>
              </a:rPr>
              <a:t>Compliance Standard</a:t>
            </a:r>
            <a:r>
              <a:rPr sz="1200" b="0" i="0" u="none">
                <a:solidFill>
                  <a:srgbClr val="000000"/>
                </a:solidFill>
                <a:latin typeface="Plus Jakarta Sans"/>
              </a:rPr>
              <a:t> </a:t>
            </a:r>
            <a:r>
              <a:rPr sz="1200" b="1" i="0" u="none">
                <a:solidFill>
                  <a:srgbClr val="0F172A"/>
                </a:solidFill>
                <a:latin typeface="Plus Jakarta Sans"/>
              </a:rPr>
              <a:t>Gas Safe / OFTEC / HSE GS6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8825" y="4678560"/>
            <a:ext cx="219075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 SemiBold"/>
              </a:rPr>
              <a:t>Document Status</a:t>
            </a:r>
            <a:r>
              <a:rPr sz="1200" b="0" i="0" u="none">
                <a:solidFill>
                  <a:srgbClr val="000000"/>
                </a:solidFill>
                <a:latin typeface="Plus Jakarta Sans"/>
              </a:rPr>
              <a:t> </a:t>
            </a:r>
            <a:r>
              <a:rPr sz="1200" b="1" i="0" u="none">
                <a:solidFill>
                  <a:srgbClr val="0F172A"/>
                </a:solidFill>
                <a:latin typeface="Plus Jakarta Sans"/>
              </a:rPr>
              <a:t>Approved Method Statement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3360"/>
            <a:ext cx="5334000" cy="29289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173360"/>
            <a:ext cx="5334000" cy="2800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1575" y="1468635"/>
            <a:ext cx="4660582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EA580C"/>
                </a:solidFill>
                <a:latin typeface="Space Grotesk"/>
              </a:rPr>
              <a:t>Purpose &amp;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1878210"/>
            <a:ext cx="4743450" cy="713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This Risk Assessment and Method Statement (RAMS) establishes a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standardi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s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ed safe system of work for offloading, positioning, connecting, and commissioning packaged mobile boilers.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964060"/>
            <a:ext cx="47434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It eliminates operational downtime while mitigating site hazards related to 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operation of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hot water/steam, gas supply, fuel handling, and heavy transport movements.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3725" y="1468635"/>
            <a:ext cx="4600575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EA580C"/>
                </a:solidFill>
                <a:latin typeface="Space Grotesk"/>
              </a:rPr>
              <a:t>Key Responsibilities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1878210"/>
            <a:ext cx="4743450" cy="469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Site Engineer: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Oversees mechanical connections, soundness testing, and flue gas analysis</a:t>
            </a:r>
            <a:r>
              <a:rPr lang="en-GB" sz="1275" dirty="0">
                <a:solidFill>
                  <a:srgbClr val="334155"/>
                </a:solidFill>
                <a:latin typeface="Plus Jakarta Sans"/>
              </a:rPr>
              <a:t>.</a:t>
            </a:r>
            <a:endParaRPr sz="1275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1775" y="2478285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Appointed Lifting </a:t>
            </a:r>
            <a:r>
              <a:rPr lang="en-GB" sz="1275" b="1" i="0" u="none" dirty="0">
                <a:solidFill>
                  <a:srgbClr val="334155"/>
                </a:solidFill>
                <a:latin typeface="Plus Jakarta Sans"/>
              </a:rPr>
              <a:t>/ Traffic</a:t>
            </a: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GB" sz="1275" dirty="0">
                <a:solidFill>
                  <a:srgbClr val="334155"/>
                </a:solidFill>
                <a:latin typeface="Plus Jakarta Sans"/>
              </a:rPr>
              <a:t>C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rane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/HIAB offloading in accordance with LOLER regulations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 by qualified operator</a:t>
            </a:r>
            <a:endParaRPr sz="1275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1775" y="3078360"/>
            <a:ext cx="4743450" cy="713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Site Principal Contractor: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Ensures clear access routes, level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hardstanding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, electrical/fuel isolation permissions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 and overall HSE </a:t>
            </a:r>
            <a:r>
              <a:rPr lang="en-GB" sz="1275" b="0" i="0" u="none" dirty="0" err="1">
                <a:solidFill>
                  <a:srgbClr val="334155"/>
                </a:solidFill>
                <a:latin typeface="Plus Jakarta Sans"/>
              </a:rPr>
              <a:t>resposnibility</a:t>
            </a:r>
            <a:endParaRPr sz="1275" b="0" i="0" u="none" dirty="0">
              <a:solidFill>
                <a:srgbClr val="334155"/>
              </a:solidFill>
              <a:latin typeface="Plus Jakarta Sans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1511498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1511498"/>
            <a:ext cx="26670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RAMS Overview &amp; Objectives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173360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173360"/>
            <a:ext cx="5334000" cy="469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A mandatory pre-hire site assessment is conducted prior to dispatching mobile plant rooms to confirm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 site 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readiness: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 Conducted August 5</a:t>
            </a:r>
            <a:r>
              <a:rPr lang="en-GB" sz="1275" b="0" i="0" u="none" baseline="30000" dirty="0">
                <a:solidFill>
                  <a:srgbClr val="334155"/>
                </a:solidFill>
                <a:latin typeface="Plus Jakarta Sans"/>
              </a:rPr>
              <a:t>Th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 2026</a:t>
            </a:r>
            <a:endParaRPr sz="1275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550" y="2044898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Access Route Inspection: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Verify overhead clearance, gate widths, and turning radius for 32t delivery vehicles.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2721173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Plus Jakarta Sans"/>
              </a:rPr>
              <a:t>Ground Bearing Capacity: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Ensure concrete pad or hardstanding can support up to 15 tonnes per containerized boiler unit.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397448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Plus Jakarta Sans"/>
              </a:rPr>
              <a:t>Utility Point Verification: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Confirm proximity to main gas connection, water feed supply, and 3-phase electrical power.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59185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35460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11735"/>
            <a:ext cx="180975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Site Survey &amp; Pre-Installation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BD6938-6DC2-F65F-3DD6-A3C58968C4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2734" y="-222052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Transport &amp; Offloading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1173360"/>
            <a:ext cx="5550693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Space Grotesk"/>
              </a:rPr>
              <a:t>Lifting &amp; Logistics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582935"/>
            <a:ext cx="52863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HIAB offloading and transport positioning are controlled under BS 7121 standards. Exclusion zones are established using rigid barriers to safeguard third-party personnel during heavy crane movements.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474118"/>
            <a:ext cx="5286375" cy="1774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Outriggers are deployed on load-spreading mats. Outrigger ground checks and lift plans are signed off prior to offloading containerized units onto designated pads.</a:t>
            </a:r>
            <a:endParaRPr lang="en-GB" sz="1275" b="0" i="0" u="none" dirty="0">
              <a:solidFill>
                <a:srgbClr val="334155"/>
              </a:solidFill>
              <a:latin typeface="Plus Jakarta Sans"/>
            </a:endParaRPr>
          </a:p>
          <a:p>
            <a:pPr algn="l">
              <a:lnSpc>
                <a:spcPts val="2039"/>
              </a:lnSpc>
            </a:pPr>
            <a:endParaRPr lang="en-GB" sz="1275" dirty="0">
              <a:solidFill>
                <a:srgbClr val="334155"/>
              </a:solidFill>
              <a:latin typeface="Plus Jakarta Sans"/>
            </a:endParaRPr>
          </a:p>
          <a:p>
            <a:pPr algn="l">
              <a:lnSpc>
                <a:spcPts val="2039"/>
              </a:lnSpc>
            </a:pP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There is some amount of traffic restriction to be expected during this operation and any attempts to enter the lifting zone during operation are strictly forbidden. </a:t>
            </a:r>
            <a:endParaRPr sz="1275" b="0" i="0" u="none" dirty="0">
              <a:solidFill>
                <a:srgbClr val="334155"/>
              </a:solidFill>
              <a:latin typeface="Plus Jakarta San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DCA7F2-ED08-4B67-CE05-16383084B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4933"/>
            <a:ext cx="5753837" cy="4315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3360"/>
            <a:ext cx="3530649" cy="26717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1173360"/>
            <a:ext cx="3530649" cy="26717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1173360"/>
            <a:ext cx="3530649" cy="26717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1449585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154435"/>
            <a:ext cx="312710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Flexible Hoses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497335"/>
            <a:ext cx="2978199" cy="1073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Install flexible </a:t>
            </a:r>
            <a:r>
              <a:rPr lang="en-GB" sz="1125" b="0" i="0" u="none" dirty="0">
                <a:solidFill>
                  <a:srgbClr val="475569"/>
                </a:solidFill>
                <a:latin typeface="Plus Jakarta Sans"/>
              </a:rPr>
              <a:t>IP and pressure 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rated stainless steel braided </a:t>
            </a:r>
            <a:r>
              <a:rPr lang="en-GB" sz="1125" b="0" i="0" u="none" dirty="0">
                <a:solidFill>
                  <a:srgbClr val="475569"/>
                </a:solidFill>
                <a:latin typeface="Plus Jakarta Sans"/>
              </a:rPr>
              <a:t>and armoured rubber 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flexible hoses. Ensure visual gasket checks, </a:t>
            </a:r>
            <a:r>
              <a:rPr lang="en-GB" sz="1125" dirty="0">
                <a:solidFill>
                  <a:srgbClr val="475569"/>
                </a:solidFill>
                <a:latin typeface="Plus Jakarta Sans"/>
              </a:rPr>
              <a:t>gas tightness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, and expansion loops are applied to withstand thermal growth</a:t>
            </a:r>
            <a:r>
              <a:rPr lang="en-GB" sz="1125" b="0" i="0" u="none" dirty="0">
                <a:solidFill>
                  <a:srgbClr val="475569"/>
                </a:solidFill>
                <a:latin typeface="Plus Jakarta Sans"/>
              </a:rPr>
              <a:t> if running plate to plate</a:t>
            </a:r>
            <a:endParaRPr sz="1125" b="0" i="0" u="none" dirty="0">
              <a:solidFill>
                <a:srgbClr val="475569"/>
              </a:solidFill>
              <a:latin typeface="Plus Jakarta Sa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1449585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2154435"/>
            <a:ext cx="312710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Electrical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2497335"/>
            <a:ext cx="29781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Connect </a:t>
            </a:r>
            <a:r>
              <a:rPr lang="en-GB" sz="1125" b="0" i="0" u="none" dirty="0">
                <a:solidFill>
                  <a:srgbClr val="475569"/>
                </a:solidFill>
                <a:latin typeface="Plus Jakarta Sans"/>
              </a:rPr>
              <a:t>3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-pin </a:t>
            </a:r>
            <a:r>
              <a:rPr lang="en-GB" sz="1125" b="0" i="0" u="none" dirty="0">
                <a:solidFill>
                  <a:srgbClr val="475569"/>
                </a:solidFill>
                <a:latin typeface="Plus Jakarta Sans"/>
              </a:rPr>
              <a:t>240v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GB" sz="1125" dirty="0">
                <a:solidFill>
                  <a:srgbClr val="475569"/>
                </a:solidFill>
                <a:latin typeface="Plus Jakarta Sans"/>
              </a:rPr>
              <a:t>1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-phase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CEEform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plug. Complete earth bonding continuity test and RCD trip checks before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energi</a:t>
            </a:r>
            <a:r>
              <a:rPr lang="en-GB" sz="1125" b="0" i="0" u="none" dirty="0">
                <a:solidFill>
                  <a:srgbClr val="475569"/>
                </a:solidFill>
                <a:latin typeface="Plus Jakarta Sans"/>
              </a:rPr>
              <a:t>s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ing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internal control panels and pumps.</a:t>
            </a:r>
            <a:r>
              <a:rPr lang="en-GB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endParaRPr sz="1125" b="0" i="0" u="none" dirty="0">
              <a:solidFill>
                <a:srgbClr val="475569"/>
              </a:solidFill>
              <a:latin typeface="Plus Jakarta Sans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1449585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2154435"/>
            <a:ext cx="3127109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Space Grotesk"/>
              </a:rPr>
              <a:t>Water Feed &amp; Dosing</a:t>
            </a:r>
            <a:r>
              <a:rPr lang="en-GB" sz="1500" b="1" i="0" u="none" dirty="0">
                <a:solidFill>
                  <a:srgbClr val="0F172A"/>
                </a:solidFill>
                <a:latin typeface="Space Grotesk"/>
              </a:rPr>
              <a:t>* if applicable</a:t>
            </a:r>
            <a:endParaRPr sz="15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66224" y="2497335"/>
            <a:ext cx="2978199" cy="8556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Connect raw water feed with WRAS-approved backflow prevention device. Verify automatic water </a:t>
            </a:r>
            <a:r>
              <a:rPr lang="en-GB" sz="1125" b="0" i="0" u="none" dirty="0" err="1">
                <a:solidFill>
                  <a:srgbClr val="475569"/>
                </a:solidFill>
                <a:latin typeface="Plus Jakarta Sans"/>
              </a:rPr>
              <a:t>presurisation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and chemical dosing units are</a:t>
            </a:r>
            <a:r>
              <a:rPr lang="en-GB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calibrated</a:t>
            </a:r>
            <a:r>
              <a:rPr lang="en-GB" sz="1125" dirty="0">
                <a:solidFill>
                  <a:srgbClr val="475569"/>
                </a:solidFill>
                <a:latin typeface="Plus Jakarta Sans"/>
              </a:rPr>
              <a:t> and operating correctly</a:t>
            </a:r>
            <a:endParaRPr sz="1125" b="0" i="0" u="none" dirty="0">
              <a:solidFill>
                <a:srgbClr val="475569"/>
              </a:solidFill>
              <a:latin typeface="Plus Jakarta San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5562" y="1592460"/>
            <a:ext cx="2571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9099" y="1592460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Mechanical &amp; Electrical Hookup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840" y="2076090"/>
            <a:ext cx="4003660" cy="27167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173360"/>
            <a:ext cx="5334000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Safe containment and emissions management are critical when managing gas </a:t>
            </a:r>
            <a:r>
              <a:rPr lang="en-GB" sz="1275" dirty="0">
                <a:solidFill>
                  <a:srgbClr val="334155"/>
                </a:solidFill>
                <a:latin typeface="Plus Jakarta Sans"/>
              </a:rPr>
              <a:t>flue positioning via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vertical chimney stacks:</a:t>
            </a:r>
            <a:endParaRPr lang="en-GB" sz="1275" b="0" i="0" u="none" dirty="0">
              <a:solidFill>
                <a:srgbClr val="334155"/>
              </a:solidFill>
              <a:latin typeface="Plus Jakarta Sans"/>
            </a:endParaRPr>
          </a:p>
          <a:p>
            <a:pPr algn="l">
              <a:lnSpc>
                <a:spcPts val="1912"/>
              </a:lnSpc>
            </a:pPr>
            <a:endParaRPr lang="en-GB" sz="1275" dirty="0">
              <a:solidFill>
                <a:srgbClr val="334155"/>
              </a:solidFill>
              <a:latin typeface="Plus Jakarta Sans"/>
            </a:endParaRPr>
          </a:p>
          <a:p>
            <a:pPr algn="l">
              <a:lnSpc>
                <a:spcPts val="1912"/>
              </a:lnSpc>
            </a:pPr>
            <a:endParaRPr sz="1275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550" y="1802010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Gas Main Isolation: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Confirm presence of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quick-closing emergency shut-off valves (Solenoid/E-Stop) 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is 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linked to gas leak detection sensors.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2478285"/>
            <a:ext cx="4933950" cy="713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Fuel Tank Bunding: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Temporary HVO/Diesel fuel tanks must be 110% double-skinned bunded with spill response kits on standby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 where applicable</a:t>
            </a:r>
            <a:endParaRPr sz="1275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1550" y="3397448"/>
            <a:ext cx="4933950" cy="713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Flue Discharge: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Extend twin-wall flue stacks above 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the boiler are to be sited away form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building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, special care to be taken near opening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windows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 and 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air intakes to comply with Clean Air Act requirements.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16298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92573"/>
            <a:ext cx="26670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11735"/>
            <a:ext cx="26670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Fuel Supply &amp; Venting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2373D6-39ED-B472-1DBB-1A56C288FD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5367" y="245181"/>
            <a:ext cx="4504930" cy="60065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3360"/>
            <a:ext cx="11049000" cy="404336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81025" y="1182885"/>
            <a:ext cx="11029950" cy="402431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500288"/>
              </p:ext>
            </p:extLst>
          </p:nvPr>
        </p:nvGraphicFramePr>
        <p:xfrm>
          <a:off x="581025" y="1182885"/>
          <a:ext cx="11029948" cy="402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3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71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Identified Hazard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Risk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Control Measures Implemented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Residual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7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Crane / Vehicle Collision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Banksman control, exclusion zones, hard hats &amp; high-vis PPE, site speed limit 5mph.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718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Hos</a:t>
                      </a:r>
                      <a:r>
                        <a:rPr lang="en-GB" sz="1125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e puncture</a:t>
                      </a:r>
                      <a:endParaRPr sz="1125" b="1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Visually 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check safety </a:t>
                      </a:r>
                      <a:r>
                        <a:rPr lang="en-GB"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clips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installed on all fluid lines, pressure testing</a:t>
                      </a:r>
                      <a:r>
                        <a:rPr lang="en-GB"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/ replacing old or damaged fleet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718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Gas Leakage / Explosion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T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ightness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test, calibrated gas sniffing tools, automatic slam-shut safety solenoid.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7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Scalding Hot Water / Steam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Thermal pipe insulation, warning signage, lockable manifold valves, controlled drain-down points</a:t>
                      </a:r>
                      <a:r>
                        <a:rPr lang="en-GB"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, fencing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72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Electrical Shock / Short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IP65 outdoor connectors, RCD protection</a:t>
                      </a:r>
                      <a:r>
                        <a:rPr lang="en-GB"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from dedicated supply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, qualified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electricia</a:t>
                      </a:r>
                      <a:r>
                        <a:rPr lang="en-GB"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l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signoff.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2383035"/>
            <a:ext cx="22025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83532" y="2383035"/>
            <a:ext cx="10429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26519" y="2383035"/>
            <a:ext cx="6523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49656" y="2383035"/>
            <a:ext cx="1261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087885"/>
            <a:ext cx="22025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83532" y="3087885"/>
            <a:ext cx="10429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26519" y="3087885"/>
            <a:ext cx="6523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349656" y="3087885"/>
            <a:ext cx="1261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3792735"/>
            <a:ext cx="22025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3532" y="3792735"/>
            <a:ext cx="10429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26519" y="3792735"/>
            <a:ext cx="6523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349656" y="3792735"/>
            <a:ext cx="1261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4497585"/>
            <a:ext cx="22025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83532" y="4497585"/>
            <a:ext cx="10429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26519" y="4497585"/>
            <a:ext cx="65231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349656" y="4497585"/>
            <a:ext cx="1261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150" y="2087760"/>
            <a:ext cx="523875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9656" y="2087760"/>
            <a:ext cx="485775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3532" y="2717611"/>
            <a:ext cx="523875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5136" y="2717611"/>
            <a:ext cx="485775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3532" y="3421260"/>
            <a:ext cx="523875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9655" y="3402210"/>
            <a:ext cx="485775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5136" y="4088010"/>
            <a:ext cx="485775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9654" y="4748009"/>
            <a:ext cx="485775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Major Hazards &amp; Risk Matrix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4392"/>
            <a:ext cx="5334000" cy="2047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0" y="1173360"/>
            <a:ext cx="56007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Space Grotesk"/>
              </a:rPr>
              <a:t>Commissioning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1582935"/>
            <a:ext cx="5334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Plus Jakarta Sans"/>
              </a:rPr>
              <a:t>Before handing over heat delivery, strict hydro-testing and combustion tuning must be executed by Gas Safe / OFTEC registered engineers: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204442"/>
            <a:ext cx="472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0" i="0" u="none">
                <a:solidFill>
                  <a:srgbClr val="EA580C"/>
                </a:solidFill>
                <a:latin typeface="Space Grotesk ExtraBold"/>
              </a:rPr>
              <a:t>1.5x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214092"/>
            <a:ext cx="47244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Working Pressure Test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86550" y="2454473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Plus Jakarta Sans"/>
              </a:rPr>
              <a:t>Hydrostatic Pressure Test: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Hold system at 1.5 times working pressure for 30 mins with zero pressure drop.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6550" y="3130748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Plus Jakarta Sans"/>
              </a:rPr>
              <a:t>Burner Combustion Analysis: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Calibrate burner air/fuel ratio to achieve optimal O2, CO2, and zero CO carbon monoxide hazard.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6550" y="3807023"/>
            <a:ext cx="4933950" cy="713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Safety Interlock Verification: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Make best efforts to trigger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high-limit thermostats and low-water cut-offs to confirm auto-shutdown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, this is not always possible depending on client safety features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68760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145035"/>
            <a:ext cx="26670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821310"/>
            <a:ext cx="238125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Commissioning &amp; Soundness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1173360"/>
            <a:ext cx="10648950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Visual Inspections: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Examine flexible hose couplings, expansion joints, pressure gauges, and 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if fuel oil is on site 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bunded fuel levels every 24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1606748"/>
            <a:ext cx="10648950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Water Chemistry &amp; Blowdown: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Perform daily TDS (Total Dissolved Solids) tests and regular boiler blowdowns to prevent scaling and corrosion.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 Steam boilers only </a:t>
            </a:r>
            <a:endParaRPr sz="1275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550" y="2283023"/>
            <a:ext cx="10648950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Access Control &amp; Signage: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Ensure </a:t>
            </a:r>
            <a:r>
              <a:rPr sz="1275" b="0" i="0" u="none" dirty="0" err="1">
                <a:solidFill>
                  <a:srgbClr val="334155"/>
                </a:solidFill>
                <a:latin typeface="Plus Jakarta Sans"/>
              </a:rPr>
              <a:t>containeri</a:t>
            </a:r>
            <a:r>
              <a:rPr lang="en-GB" sz="1275" b="0" i="0" u="none" dirty="0">
                <a:solidFill>
                  <a:srgbClr val="334155"/>
                </a:solidFill>
                <a:latin typeface="Plus Jakarta Sans"/>
              </a:rPr>
              <a:t>s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ed plant doors remain locked to unauthorized personnel with mandatory PPE signage posted outside.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959298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Shift Logbook Records: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Document system temperatures, fuel consumption, operating pressure, and chemical dosing logs on daily site sheets.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87648"/>
            <a:ext cx="16192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21035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97310"/>
            <a:ext cx="18097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73585"/>
            <a:ext cx="1809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0F172A"/>
                </a:solidFill>
                <a:latin typeface="Space Grotesk"/>
              </a:rPr>
              <a:t>Safe Operation &amp; Daily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21235"/>
            <a:ext cx="2541240" cy="1238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1506735"/>
            <a:ext cx="2541240" cy="1238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3221235"/>
            <a:ext cx="2541240" cy="1238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1506735"/>
            <a:ext cx="2541240" cy="1238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296406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3402210"/>
            <a:ext cx="228825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EA580C"/>
                </a:solidFill>
                <a:latin typeface="Space Grotesk"/>
              </a:rPr>
              <a:t>1. Hit Emergency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3678435"/>
            <a:ext cx="21792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Press external E-Stop button on the boiler housing to immediately cut fuel &amp; electrical power.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1687710"/>
            <a:ext cx="228825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EA580C"/>
                </a:solidFill>
                <a:latin typeface="Space Grotesk"/>
              </a:rPr>
              <a:t>2. Isolate Fuel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1963935"/>
            <a:ext cx="21792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Manually isolate gas emergency lever valve or close oil tank isolation valves.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3402210"/>
            <a:ext cx="228825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EA580C"/>
                </a:solidFill>
                <a:latin typeface="Space Grotesk"/>
              </a:rPr>
              <a:t>3. Evacuate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3678435"/>
            <a:ext cx="21792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en-GB" sz="1050" dirty="0">
                <a:solidFill>
                  <a:srgbClr val="475569"/>
                </a:solidFill>
                <a:latin typeface="Plus Jakarta Sans"/>
              </a:rPr>
              <a:t>Safe 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exclusion perimeter and clear site personnel to designated assembly point.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1687710"/>
            <a:ext cx="228825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EA580C"/>
                </a:solidFill>
                <a:latin typeface="Space Grotesk"/>
              </a:rPr>
              <a:t>4. Contact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1963935"/>
            <a:ext cx="21792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Notify 24/7 Rapid Emergency Response hotline and site Principal Safety Officer.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Emergency Response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37345" y="287833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3265" y="287833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09184" y="287833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45104" y="287833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49" y="1173360"/>
            <a:ext cx="3530649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3611760"/>
            <a:ext cx="35306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1. Controlled Cooldown: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Safely flame-out burner, allow system water temperature to drop below 40°C prior to drain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0749" y="3611760"/>
            <a:ext cx="35306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2. Isolation &amp; Cap-off: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Disconnect electrics, blank off gas lines with tested caps, and purge residual fuel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9999" y="3611760"/>
            <a:ext cx="35306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3. Lifting &amp; Handover: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Re-rig containerized unit, execute crane lift onto transport vehicle, and sign off site handback certificate.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274" y="1182885"/>
            <a:ext cx="3511599" cy="2266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Decommissioning &amp; Site Clearance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4410075"/>
            <a:ext cx="9048750" cy="828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30604" y="2038350"/>
            <a:ext cx="6330791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Space Grotesk"/>
              </a:rPr>
              <a:t>Compliance Sign-Off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2250" y="2971800"/>
            <a:ext cx="666750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This Risk Assessment &amp; Method Statement must be briefed to all site engineers, lifting supervisors, and client representatives before work begins.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0775" y="4714875"/>
            <a:ext cx="1590675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0" i="0" u="none" dirty="0">
                <a:solidFill>
                  <a:srgbClr val="0F172A"/>
                </a:solidFill>
                <a:latin typeface="Plus Jakarta Sans SemiBold"/>
              </a:rPr>
              <a:t>24/7 Safety Hotline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6300" y="4720538"/>
            <a:ext cx="250507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350" dirty="0">
                <a:solidFill>
                  <a:srgbClr val="0F172A"/>
                </a:solidFill>
                <a:latin typeface="Plus Jakarta Sans SemiBold"/>
              </a:rPr>
              <a:t>Steve.pike@rapidchillers.co.uk</a:t>
            </a:r>
            <a:endParaRPr sz="1350" b="0" i="0" u="none" dirty="0">
              <a:solidFill>
                <a:srgbClr val="0F172A"/>
              </a:solidFill>
              <a:latin typeface="Plus Jakarta Sa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48600" y="4616664"/>
            <a:ext cx="227647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350" b="0" i="0" u="none" dirty="0">
                <a:solidFill>
                  <a:srgbClr val="0F172A"/>
                </a:solidFill>
                <a:latin typeface="Plus Jakarta Sans SemiBold"/>
              </a:rPr>
              <a:t>Working to </a:t>
            </a:r>
            <a:r>
              <a:rPr sz="1350" b="0" i="0" u="none" dirty="0">
                <a:solidFill>
                  <a:srgbClr val="0F172A"/>
                </a:solidFill>
                <a:latin typeface="Plus Jakarta Sans SemiBold"/>
              </a:rPr>
              <a:t>Gas Safe &amp; OFTEC </a:t>
            </a:r>
            <a:r>
              <a:rPr lang="en-GB" sz="1350" dirty="0">
                <a:solidFill>
                  <a:srgbClr val="0F172A"/>
                </a:solidFill>
                <a:latin typeface="Plus Jakarta Sans SemiBold"/>
              </a:rPr>
              <a:t>standards</a:t>
            </a:r>
            <a:endParaRPr sz="1350" b="0" i="0" u="none" dirty="0">
              <a:solidFill>
                <a:srgbClr val="0F172A"/>
              </a:solidFill>
              <a:latin typeface="Plus Jakarta Sans SemiBold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925" y="4719637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450" y="4719637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2375" y="4719637"/>
            <a:ext cx="161925" cy="209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D6FF8C4AE1874181F27AD574AE6AB9" ma:contentTypeVersion="12" ma:contentTypeDescription="Create a new document." ma:contentTypeScope="" ma:versionID="22f4e8b148b22ff03d0658c30e572d21">
  <xsd:schema xmlns:xsd="http://www.w3.org/2001/XMLSchema" xmlns:xs="http://www.w3.org/2001/XMLSchema" xmlns:p="http://schemas.microsoft.com/office/2006/metadata/properties" xmlns:ns2="e5b806d4-320b-45bf-b297-8453c31642dc" xmlns:ns3="1c914f78-3c93-41c7-abb0-07a8a85ad268" targetNamespace="http://schemas.microsoft.com/office/2006/metadata/properties" ma:root="true" ma:fieldsID="14f45397f2650e349f97d88087091b6e" ns2:_="" ns3:_="">
    <xsd:import namespace="e5b806d4-320b-45bf-b297-8453c31642dc"/>
    <xsd:import namespace="1c914f78-3c93-41c7-abb0-07a8a85ad2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b806d4-320b-45bf-b297-8453c31642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a3bbb126-38a7-434e-a577-a00e4d480e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914f78-3c93-41c7-abb0-07a8a85ad26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34ec7f0-935a-482b-8ba5-8562a6406c77}" ma:internalName="TaxCatchAll" ma:showField="CatchAllData" ma:web="1c914f78-3c93-41c7-abb0-07a8a85ad2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c914f78-3c93-41c7-abb0-07a8a85ad268" xsi:nil="true"/>
    <lcf76f155ced4ddcb4097134ff3c332f xmlns="e5b806d4-320b-45bf-b297-8453c31642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C7A6613-4C07-44F6-982E-37DB25CF6037}"/>
</file>

<file path=customXml/itemProps2.xml><?xml version="1.0" encoding="utf-8"?>
<ds:datastoreItem xmlns:ds="http://schemas.openxmlformats.org/officeDocument/2006/customXml" ds:itemID="{21006FE4-FAC9-42EC-A9D1-E8E6FA181322}"/>
</file>

<file path=customXml/itemProps3.xml><?xml version="1.0" encoding="utf-8"?>
<ds:datastoreItem xmlns:ds="http://schemas.openxmlformats.org/officeDocument/2006/customXml" ds:itemID="{45F9460D-859F-432C-A52F-D8F2CD5F42B9}"/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1086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Plus Jakarta Sans</vt:lpstr>
      <vt:lpstr>Plus Jakarta Sans SemiBold</vt:lpstr>
      <vt:lpstr>Space Grotesk</vt:lpstr>
      <vt:lpstr>Space Grotesk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Steve Pike</dc:creator>
  <cp:keywords/>
  <dc:description>generated using python-pptx</dc:description>
  <cp:lastModifiedBy>Steve Pike</cp:lastModifiedBy>
  <cp:revision>3</cp:revision>
  <dcterms:created xsi:type="dcterms:W3CDTF">2013-01-27T09:14:16Z</dcterms:created>
  <dcterms:modified xsi:type="dcterms:W3CDTF">2026-08-17T15:46:58Z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0x01010052D6FF8C4AE1874181F27AD574AE6AB9</vt:lpwstr>
  </property>
</Properties>
</file>